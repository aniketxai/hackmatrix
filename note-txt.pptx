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18288000" cy="10287000"/>
  <p:notesSz cx="6858000" cy="9144000"/>
  <p:embeddedFontLst>
    <p:embeddedFont>
      <p:font typeface="Garet Bold" charset="1" panose="00000000000000000000"/>
      <p:regular r:id="rId16"/>
    </p:embeddedFont>
    <p:embeddedFont>
      <p:font typeface="Garet" charset="1" panose="00000000000000000000"/>
      <p:regular r:id="rId17"/>
    </p:embeddedFont>
    <p:embeddedFont>
      <p:font typeface="Canva Sans Bold" charset="1" panose="020B0803030501040103"/>
      <p:regular r:id="rId18"/>
    </p:embeddedFont>
    <p:embeddedFont>
      <p:font typeface="Canva Sans" charset="1" panose="020B0503030501040103"/>
      <p:regular r:id="rId19"/>
    </p:embeddedFont>
    <p:embeddedFont>
      <p:font typeface="Apricots" charset="1" panose="00000000000000000000"/>
      <p:regular r:id="rId2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jpeg" Type="http://schemas.openxmlformats.org/officeDocument/2006/relationships/image"/><Relationship Id="rId6" Target="../media/image5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jpeg" Type="http://schemas.openxmlformats.org/officeDocument/2006/relationships/image"/><Relationship Id="rId6" Target="../media/image5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jpeg" Type="http://schemas.openxmlformats.org/officeDocument/2006/relationships/image"/><Relationship Id="rId6" Target="../media/image5.jpe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jpeg" Type="http://schemas.openxmlformats.org/officeDocument/2006/relationships/image"/><Relationship Id="rId6" Target="../media/image5.jpe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jpeg" Type="http://schemas.openxmlformats.org/officeDocument/2006/relationships/image"/><Relationship Id="rId6" Target="../media/image5.jpe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jpeg" Type="http://schemas.openxmlformats.org/officeDocument/2006/relationships/image"/><Relationship Id="rId6" Target="../media/image5.jpe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jpeg" Type="http://schemas.openxmlformats.org/officeDocument/2006/relationships/image"/><Relationship Id="rId6" Target="../media/image5.jpe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jpeg" Type="http://schemas.openxmlformats.org/officeDocument/2006/relationships/image"/><Relationship Id="rId6" Target="../media/image5.jpe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jpeg" Type="http://schemas.openxmlformats.org/officeDocument/2006/relationships/image"/><Relationship Id="rId6" Target="../media/image5.jpe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jpeg" Type="http://schemas.openxmlformats.org/officeDocument/2006/relationships/image"/><Relationship Id="rId6" Target="../media/image5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69275" r="0" b="-69275"/>
              </a:stretch>
            </a:blip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1153935" y="2541622"/>
            <a:ext cx="16230600" cy="302552"/>
          </a:xfrm>
          <a:custGeom>
            <a:avLst/>
            <a:gdLst/>
            <a:ahLst/>
            <a:cxnLst/>
            <a:rect r="r" b="b" t="t" l="l"/>
            <a:pathLst>
              <a:path h="302552" w="16230600">
                <a:moveTo>
                  <a:pt x="0" y="0"/>
                </a:moveTo>
                <a:lnTo>
                  <a:pt x="16230600" y="0"/>
                </a:lnTo>
                <a:lnTo>
                  <a:pt x="16230600" y="302553"/>
                </a:lnTo>
                <a:lnTo>
                  <a:pt x="0" y="30255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633298" y="575310"/>
            <a:ext cx="2131571" cy="1004830"/>
            <a:chOff x="0" y="0"/>
            <a:chExt cx="2842095" cy="1339774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842133" cy="1339723"/>
            </a:xfrm>
            <a:custGeom>
              <a:avLst/>
              <a:gdLst/>
              <a:ahLst/>
              <a:cxnLst/>
              <a:rect r="r" b="b" t="t" l="l"/>
              <a:pathLst>
                <a:path h="1339723" w="2842133">
                  <a:moveTo>
                    <a:pt x="0" y="0"/>
                  </a:moveTo>
                  <a:lnTo>
                    <a:pt x="2842133" y="0"/>
                  </a:lnTo>
                  <a:lnTo>
                    <a:pt x="2842133" y="1339723"/>
                  </a:lnTo>
                  <a:lnTo>
                    <a:pt x="0" y="133972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86" t="0" r="-85" b="-3"/>
              </a:stretch>
            </a:blipFill>
          </p:spPr>
        </p:sp>
      </p:grpSp>
      <p:grpSp>
        <p:nvGrpSpPr>
          <p:cNvPr name="Group 7" id="7"/>
          <p:cNvGrpSpPr/>
          <p:nvPr/>
        </p:nvGrpSpPr>
        <p:grpSpPr>
          <a:xfrm rot="0">
            <a:off x="15978664" y="-269129"/>
            <a:ext cx="2475690" cy="2475690"/>
            <a:chOff x="0" y="0"/>
            <a:chExt cx="3300921" cy="3300921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3300984" cy="3300984"/>
            </a:xfrm>
            <a:custGeom>
              <a:avLst/>
              <a:gdLst/>
              <a:ahLst/>
              <a:cxnLst/>
              <a:rect r="r" b="b" t="t" l="l"/>
              <a:pathLst>
                <a:path h="3300984" w="3300984">
                  <a:moveTo>
                    <a:pt x="0" y="0"/>
                  </a:moveTo>
                  <a:lnTo>
                    <a:pt x="3300984" y="0"/>
                  </a:lnTo>
                  <a:lnTo>
                    <a:pt x="3300984" y="3300984"/>
                  </a:lnTo>
                  <a:lnTo>
                    <a:pt x="0" y="330098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1" b="1"/>
              </a:stretch>
            </a:blipFill>
          </p:spPr>
        </p:sp>
      </p:grpSp>
      <p:sp>
        <p:nvSpPr>
          <p:cNvPr name="TextBox 9" id="9"/>
          <p:cNvSpPr txBox="true"/>
          <p:nvPr/>
        </p:nvSpPr>
        <p:spPr>
          <a:xfrm rot="0">
            <a:off x="4173026" y="194310"/>
            <a:ext cx="10395937" cy="10782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058"/>
              </a:lnSpc>
            </a:pPr>
            <a:r>
              <a:rPr lang="en-US" b="true" sz="5998" spc="-214">
                <a:solidFill>
                  <a:srgbClr val="FFFFFF"/>
                </a:solidFill>
                <a:latin typeface="Garet Bold"/>
                <a:ea typeface="Garet Bold"/>
                <a:cs typeface="Garet Bold"/>
                <a:sym typeface="Garet Bold"/>
              </a:rPr>
              <a:t>HACK MATRIX HACKATHON 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6703544" y="1389221"/>
            <a:ext cx="4880912" cy="8285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945"/>
              </a:lnSpc>
            </a:pPr>
            <a:r>
              <a:rPr lang="en-US" b="true" sz="4599" spc="-165">
                <a:solidFill>
                  <a:srgbClr val="FFFFFF"/>
                </a:solidFill>
                <a:latin typeface="Garet Bold"/>
                <a:ea typeface="Garet Bold"/>
                <a:cs typeface="Garet Bold"/>
                <a:sym typeface="Garet Bold"/>
              </a:rPr>
              <a:t>TITLE PAGE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485956" y="3483054"/>
            <a:ext cx="4028627" cy="5693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31396" indent="-243799" lvl="2">
              <a:lnSpc>
                <a:spcPts val="4830"/>
              </a:lnSpc>
              <a:buFont typeface="Arial"/>
              <a:buChar char="⚬"/>
            </a:pPr>
            <a:r>
              <a:rPr lang="en-US" b="true" sz="3199" spc="-114">
                <a:solidFill>
                  <a:srgbClr val="FFFFFF"/>
                </a:solidFill>
                <a:latin typeface="Garet Bold"/>
                <a:ea typeface="Garet Bold"/>
                <a:cs typeface="Garet Bold"/>
                <a:sym typeface="Garet Bold"/>
              </a:rPr>
              <a:t>PROJECT TITLE : 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476507" y="5157292"/>
            <a:ext cx="3416351" cy="5693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31396" indent="-243799" lvl="2">
              <a:lnSpc>
                <a:spcPts val="4830"/>
              </a:lnSpc>
              <a:buFont typeface="Arial"/>
              <a:buChar char="⚬"/>
            </a:pPr>
            <a:r>
              <a:rPr lang="en-US" b="true" sz="3199" spc="-114">
                <a:solidFill>
                  <a:srgbClr val="FFFFFF"/>
                </a:solidFill>
                <a:latin typeface="Garet Bold"/>
                <a:ea typeface="Garet Bold"/>
                <a:cs typeface="Garet Bold"/>
                <a:sym typeface="Garet Bold"/>
              </a:rPr>
              <a:t>TEAM NAME : 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485956" y="6834226"/>
            <a:ext cx="4230586" cy="5693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31396" indent="-243799" lvl="2">
              <a:lnSpc>
                <a:spcPts val="4830"/>
              </a:lnSpc>
              <a:buFont typeface="Arial"/>
              <a:buChar char="⚬"/>
            </a:pPr>
            <a:r>
              <a:rPr lang="en-US" b="true" sz="3199" spc="-114">
                <a:solidFill>
                  <a:srgbClr val="FFFFFF"/>
                </a:solidFill>
                <a:latin typeface="Garet Bold"/>
                <a:ea typeface="Garet Bold"/>
                <a:cs typeface="Garet Bold"/>
                <a:sym typeface="Garet Bold"/>
              </a:rPr>
              <a:t>TEAM MEMBERS : 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4141465" y="5176342"/>
            <a:ext cx="1812330" cy="5803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  <a:spcBef>
                <a:spcPct val="0"/>
              </a:spcBef>
            </a:pPr>
            <a:r>
              <a:rPr lang="en-US" b="true" sz="3399" spc="-270">
                <a:solidFill>
                  <a:srgbClr val="FFFFFF"/>
                </a:solidFill>
                <a:latin typeface="Garet Bold"/>
                <a:ea typeface="Garet Bold"/>
                <a:cs typeface="Garet Bold"/>
                <a:sym typeface="Garet Bold"/>
              </a:rPr>
              <a:t>METHXAI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4933476" y="6852525"/>
            <a:ext cx="3376647" cy="5803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  <a:spcBef>
                <a:spcPct val="0"/>
              </a:spcBef>
            </a:pPr>
            <a:r>
              <a:rPr lang="en-US" b="true" sz="3399" spc="-270">
                <a:solidFill>
                  <a:srgbClr val="FFFFFF"/>
                </a:solidFill>
                <a:latin typeface="Garet Bold"/>
                <a:ea typeface="Garet Bold"/>
                <a:cs typeface="Garet Bold"/>
                <a:sym typeface="Garet Bold"/>
              </a:rPr>
              <a:t>ANIKET  KUMAR  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4899767" y="7518614"/>
            <a:ext cx="3810514" cy="5803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  <a:spcBef>
                <a:spcPct val="0"/>
              </a:spcBef>
            </a:pPr>
            <a:r>
              <a:rPr lang="en-US" b="true" sz="3399" spc="-270">
                <a:solidFill>
                  <a:srgbClr val="FFFFFF"/>
                </a:solidFill>
                <a:latin typeface="Garet Bold"/>
                <a:ea typeface="Garet Bold"/>
                <a:cs typeface="Garet Bold"/>
                <a:sym typeface="Garet Bold"/>
              </a:rPr>
              <a:t>KUSHAGRA  DIVYA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4798287" y="8184702"/>
            <a:ext cx="3810514" cy="5803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  <a:spcBef>
                <a:spcPct val="0"/>
              </a:spcBef>
            </a:pPr>
            <a:r>
              <a:rPr lang="en-US" b="true" sz="3399" spc="-270">
                <a:solidFill>
                  <a:srgbClr val="FFFFFF"/>
                </a:solidFill>
                <a:latin typeface="Garet Bold"/>
                <a:ea typeface="Garet Bold"/>
                <a:cs typeface="Garet Bold"/>
                <a:sym typeface="Garet Bold"/>
              </a:rPr>
              <a:t>KHUSHI  KUMARI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4716542" y="8934781"/>
            <a:ext cx="3810514" cy="5803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  <a:spcBef>
                <a:spcPct val="0"/>
              </a:spcBef>
            </a:pPr>
            <a:r>
              <a:rPr lang="en-US" b="true" sz="3399" spc="-270">
                <a:solidFill>
                  <a:srgbClr val="FFFFFF"/>
                </a:solidFill>
                <a:latin typeface="Garet Bold"/>
                <a:ea typeface="Garet Bold"/>
                <a:cs typeface="Garet Bold"/>
                <a:sym typeface="Garet Bold"/>
              </a:rPr>
              <a:t>AKSHARA  S HAH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4716542" y="3500604"/>
            <a:ext cx="10849927" cy="5803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  <a:spcBef>
                <a:spcPct val="0"/>
              </a:spcBef>
            </a:pPr>
            <a:r>
              <a:rPr lang="en-US" b="true" sz="3399" spc="-270">
                <a:solidFill>
                  <a:srgbClr val="FFFFFF"/>
                </a:solidFill>
                <a:latin typeface="Garet Bold"/>
                <a:ea typeface="Garet Bold"/>
                <a:cs typeface="Garet Bold"/>
                <a:sym typeface="Garet Bold"/>
              </a:rPr>
              <a:t>SMART  HANDWRITTEN  NOTES   TO  TEXT  CONVERTER 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8710282" y="6838227"/>
            <a:ext cx="3376647" cy="5803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  <a:spcBef>
                <a:spcPct val="0"/>
              </a:spcBef>
            </a:pPr>
            <a:r>
              <a:rPr lang="en-US" b="true" sz="3399" spc="-270">
                <a:solidFill>
                  <a:srgbClr val="FFFFFF"/>
                </a:solidFill>
                <a:latin typeface="Garet Bold"/>
                <a:ea typeface="Garet Bold"/>
                <a:cs typeface="Garet Bold"/>
                <a:sym typeface="Garet Bold"/>
              </a:rPr>
              <a:t>25BAI11113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8881173" y="7518614"/>
            <a:ext cx="3376647" cy="5803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  <a:spcBef>
                <a:spcPct val="0"/>
              </a:spcBef>
            </a:pPr>
            <a:r>
              <a:rPr lang="en-US" b="true" sz="3399" spc="-270">
                <a:solidFill>
                  <a:srgbClr val="FFFFFF"/>
                </a:solidFill>
                <a:latin typeface="Garet Bold"/>
                <a:ea typeface="Garet Bold"/>
                <a:cs typeface="Garet Bold"/>
                <a:sym typeface="Garet Bold"/>
              </a:rPr>
              <a:t>25BAI10724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8881173" y="8184702"/>
            <a:ext cx="3376647" cy="5803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  <a:spcBef>
                <a:spcPct val="0"/>
              </a:spcBef>
            </a:pPr>
            <a:r>
              <a:rPr lang="en-US" b="true" sz="3399" spc="-270">
                <a:solidFill>
                  <a:srgbClr val="FFFFFF"/>
                </a:solidFill>
                <a:latin typeface="Garet Bold"/>
                <a:ea typeface="Garet Bold"/>
                <a:cs typeface="Garet Bold"/>
                <a:sym typeface="Garet Bold"/>
              </a:rPr>
              <a:t>25BAI11248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8881173" y="8850791"/>
            <a:ext cx="3376647" cy="5803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  <a:spcBef>
                <a:spcPct val="0"/>
              </a:spcBef>
            </a:pPr>
            <a:r>
              <a:rPr lang="en-US" b="true" sz="3399" spc="-270">
                <a:solidFill>
                  <a:srgbClr val="FFFFFF"/>
                </a:solidFill>
                <a:latin typeface="Garet Bold"/>
                <a:ea typeface="Garet Bold"/>
                <a:cs typeface="Garet Bold"/>
                <a:sym typeface="Garet Bold"/>
              </a:rPr>
              <a:t>25BAI11587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66354" y="-161195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9271" r="0" b="-9271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5141891" y="430216"/>
            <a:ext cx="8004208" cy="854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998"/>
              </a:lnSpc>
            </a:pPr>
            <a:r>
              <a:rPr lang="en-US" b="true" sz="4999" spc="-399" u="sng">
                <a:solidFill>
                  <a:srgbClr val="FFFFFF"/>
                </a:solidFill>
                <a:latin typeface="Garet Bold"/>
                <a:ea typeface="Garet Bold"/>
                <a:cs typeface="Garet Bold"/>
                <a:sym typeface="Garet Bold"/>
              </a:rPr>
              <a:t>PROBLEM   STATEMENT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28700" y="1838963"/>
            <a:ext cx="7129187" cy="5803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77117" indent="-259039" lvl="2">
              <a:lnSpc>
                <a:spcPts val="4759"/>
              </a:lnSpc>
              <a:buFont typeface="Arial"/>
              <a:buChar char="⚬"/>
            </a:pPr>
            <a:r>
              <a:rPr lang="en-US" b="true" sz="3399" spc="-271">
                <a:solidFill>
                  <a:srgbClr val="FFFFFF"/>
                </a:solidFill>
                <a:latin typeface="Garet Bold"/>
                <a:ea typeface="Garet Bold"/>
                <a:cs typeface="Garet Bold"/>
                <a:sym typeface="Garet Bold"/>
              </a:rPr>
              <a:t>Describe the problem clearly . 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28700" y="4705691"/>
            <a:ext cx="8779848" cy="5803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77117" indent="-259039" lvl="2">
              <a:lnSpc>
                <a:spcPts val="4759"/>
              </a:lnSpc>
              <a:buFont typeface="Arial"/>
              <a:buChar char="⚬"/>
            </a:pPr>
            <a:r>
              <a:rPr lang="en-US" b="true" sz="3399" spc="-271">
                <a:solidFill>
                  <a:srgbClr val="FFFFFF"/>
                </a:solidFill>
                <a:latin typeface="Garet Bold"/>
                <a:ea typeface="Garet Bold"/>
                <a:cs typeface="Garet Bold"/>
                <a:sym typeface="Garet Bold"/>
              </a:rPr>
              <a:t>Who is affected by this problem .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28700" y="6845617"/>
            <a:ext cx="8593659" cy="5803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77117" indent="-259039" lvl="2">
              <a:lnSpc>
                <a:spcPts val="4759"/>
              </a:lnSpc>
              <a:buFont typeface="Arial"/>
              <a:buChar char="⚬"/>
            </a:pPr>
            <a:r>
              <a:rPr lang="en-US" b="true" sz="3399" spc="-271">
                <a:solidFill>
                  <a:srgbClr val="FFFFFF"/>
                </a:solidFill>
                <a:latin typeface="Garet Bold"/>
                <a:ea typeface="Garet Bold"/>
                <a:cs typeface="Garet Bold"/>
                <a:sym typeface="Garet Bold"/>
              </a:rPr>
              <a:t>Why this problem is important ?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1028700" y="1603086"/>
            <a:ext cx="16230600" cy="302552"/>
          </a:xfrm>
          <a:custGeom>
            <a:avLst/>
            <a:gdLst/>
            <a:ahLst/>
            <a:cxnLst/>
            <a:rect r="r" b="b" t="t" l="l"/>
            <a:pathLst>
              <a:path h="302552" w="16230600">
                <a:moveTo>
                  <a:pt x="0" y="0"/>
                </a:moveTo>
                <a:lnTo>
                  <a:pt x="16230600" y="0"/>
                </a:lnTo>
                <a:lnTo>
                  <a:pt x="16230600" y="302552"/>
                </a:lnTo>
                <a:lnTo>
                  <a:pt x="0" y="30255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9" id="9"/>
          <p:cNvGrpSpPr/>
          <p:nvPr/>
        </p:nvGrpSpPr>
        <p:grpSpPr>
          <a:xfrm rot="0">
            <a:off x="633298" y="575310"/>
            <a:ext cx="2131571" cy="1004830"/>
            <a:chOff x="0" y="0"/>
            <a:chExt cx="2842095" cy="1339774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842133" cy="1339723"/>
            </a:xfrm>
            <a:custGeom>
              <a:avLst/>
              <a:gdLst/>
              <a:ahLst/>
              <a:cxnLst/>
              <a:rect r="r" b="b" t="t" l="l"/>
              <a:pathLst>
                <a:path h="1339723" w="2842133">
                  <a:moveTo>
                    <a:pt x="0" y="0"/>
                  </a:moveTo>
                  <a:lnTo>
                    <a:pt x="2842133" y="0"/>
                  </a:lnTo>
                  <a:lnTo>
                    <a:pt x="2842133" y="1339723"/>
                  </a:lnTo>
                  <a:lnTo>
                    <a:pt x="0" y="133972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86" t="0" r="-85" b="-3"/>
              </a:stretch>
            </a:blip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15978664" y="-269129"/>
            <a:ext cx="2475690" cy="2475690"/>
            <a:chOff x="0" y="0"/>
            <a:chExt cx="3300921" cy="3300921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3300984" cy="3300984"/>
            </a:xfrm>
            <a:custGeom>
              <a:avLst/>
              <a:gdLst/>
              <a:ahLst/>
              <a:cxnLst/>
              <a:rect r="r" b="b" t="t" l="l"/>
              <a:pathLst>
                <a:path h="3300984" w="3300984">
                  <a:moveTo>
                    <a:pt x="0" y="0"/>
                  </a:moveTo>
                  <a:lnTo>
                    <a:pt x="3300984" y="0"/>
                  </a:lnTo>
                  <a:lnTo>
                    <a:pt x="3300984" y="3300984"/>
                  </a:lnTo>
                  <a:lnTo>
                    <a:pt x="0" y="330098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1" b="1"/>
              </a:stretch>
            </a:blipFill>
          </p:spPr>
        </p:sp>
      </p:grpSp>
      <p:sp>
        <p:nvSpPr>
          <p:cNvPr name="TextBox 13" id="13"/>
          <p:cNvSpPr txBox="true"/>
          <p:nvPr/>
        </p:nvSpPr>
        <p:spPr>
          <a:xfrm rot="0">
            <a:off x="1324681" y="2640916"/>
            <a:ext cx="9260503" cy="16071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69076" indent="-334538" lvl="1">
              <a:lnSpc>
                <a:spcPts val="4338"/>
              </a:lnSpc>
              <a:buFont typeface="Arial"/>
              <a:buChar char="•"/>
            </a:pPr>
            <a:r>
              <a:rPr lang="en-US" sz="3099" spc="-244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Handwritten notes are not searchable or editable.</a:t>
            </a:r>
          </a:p>
          <a:p>
            <a:pPr algn="l" marL="669076" indent="-334538" lvl="1">
              <a:lnSpc>
                <a:spcPts val="4338"/>
              </a:lnSpc>
              <a:buFont typeface="Arial"/>
              <a:buChar char="•"/>
            </a:pPr>
            <a:r>
              <a:rPr lang="en-US" sz="3099" spc="-244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Students spend time rewriting notes digitally.</a:t>
            </a:r>
          </a:p>
          <a:p>
            <a:pPr algn="l" marL="669076" indent="-334538" lvl="1">
              <a:lnSpc>
                <a:spcPts val="4338"/>
              </a:lnSpc>
              <a:buFont typeface="Arial"/>
              <a:buChar char="•"/>
            </a:pPr>
            <a:r>
              <a:rPr lang="en-US" sz="3099" spc="-247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It is difficult to organize and revise efficiently.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890714" y="5324156"/>
            <a:ext cx="3804938" cy="10642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69076" indent="-334538" lvl="1">
              <a:lnSpc>
                <a:spcPts val="4338"/>
              </a:lnSpc>
              <a:buFont typeface="Arial"/>
              <a:buChar char="•"/>
            </a:pPr>
            <a:r>
              <a:rPr lang="en-US" sz="3099" spc="-244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Students</a:t>
            </a:r>
          </a:p>
          <a:p>
            <a:pPr algn="l" marL="669076" indent="-334538" lvl="1">
              <a:lnSpc>
                <a:spcPts val="4338"/>
              </a:lnSpc>
              <a:buFont typeface="Arial"/>
              <a:buChar char="•"/>
            </a:pPr>
            <a:r>
              <a:rPr lang="en-US" sz="3099" spc="-247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Educators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890714" y="7651113"/>
            <a:ext cx="5837334" cy="16071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69076" indent="-334538" lvl="1">
              <a:lnSpc>
                <a:spcPts val="4338"/>
              </a:lnSpc>
              <a:buFont typeface="Arial"/>
              <a:buChar char="•"/>
            </a:pPr>
            <a:r>
              <a:rPr lang="en-US" sz="3099" spc="-244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Improves productivity</a:t>
            </a:r>
          </a:p>
          <a:p>
            <a:pPr algn="l" marL="669076" indent="-334538" lvl="1">
              <a:lnSpc>
                <a:spcPts val="4338"/>
              </a:lnSpc>
              <a:buFont typeface="Arial"/>
              <a:buChar char="•"/>
            </a:pPr>
            <a:r>
              <a:rPr lang="en-US" sz="3099" spc="-244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Saves time</a:t>
            </a:r>
          </a:p>
          <a:p>
            <a:pPr algn="l" marL="669076" indent="-334538" lvl="1">
              <a:lnSpc>
                <a:spcPts val="4338"/>
              </a:lnSpc>
              <a:buFont typeface="Arial"/>
              <a:buChar char="•"/>
            </a:pPr>
            <a:r>
              <a:rPr lang="en-US" sz="3099" spc="-247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Enables smart learning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9271" r="0" b="-9271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2928117" y="430216"/>
            <a:ext cx="12191936" cy="854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998"/>
              </a:lnSpc>
            </a:pPr>
            <a:r>
              <a:rPr lang="en-US" b="true" sz="4999" spc="-399" u="sng">
                <a:solidFill>
                  <a:srgbClr val="FFFFFF"/>
                </a:solidFill>
                <a:latin typeface="Garet Bold"/>
                <a:ea typeface="Garet Bold"/>
                <a:cs typeface="Garet Bold"/>
                <a:sym typeface="Garet Bold"/>
              </a:rPr>
              <a:t>EXISTING  SOLUTIONS  AND  GAPS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2125004" y="2139887"/>
            <a:ext cx="7905655" cy="17765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904159" indent="-301386" lvl="2">
              <a:lnSpc>
                <a:spcPts val="5537"/>
              </a:lnSpc>
              <a:buFont typeface="Arial"/>
              <a:buChar char="⚬"/>
            </a:pPr>
            <a:r>
              <a:rPr lang="en-US" b="true" sz="3955" spc="-312">
                <a:solidFill>
                  <a:srgbClr val="FFFFFF"/>
                </a:solidFill>
                <a:latin typeface="Garet Bold"/>
                <a:ea typeface="Garet Bold"/>
                <a:cs typeface="Garet Bold"/>
                <a:sym typeface="Garet Bold"/>
              </a:rPr>
              <a:t>List of existing Solutions  :</a:t>
            </a:r>
          </a:p>
          <a:p>
            <a:pPr algn="l" marL="681212" indent="-340606" lvl="1">
              <a:lnSpc>
                <a:spcPts val="4417"/>
              </a:lnSpc>
              <a:buFont typeface="Arial"/>
              <a:buChar char="•"/>
            </a:pPr>
            <a:r>
              <a:rPr lang="en-US" b="true" sz="3155" spc="-249">
                <a:solidFill>
                  <a:srgbClr val="FFFFFF"/>
                </a:solidFill>
                <a:latin typeface="Garet Bold"/>
                <a:ea typeface="Garet Bold"/>
                <a:cs typeface="Garet Bold"/>
                <a:sym typeface="Garet Bold"/>
              </a:rPr>
              <a:t>  </a:t>
            </a:r>
            <a:r>
              <a:rPr lang="en-US" sz="3155" spc="-249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Google</a:t>
            </a:r>
            <a:r>
              <a:rPr lang="en-US" b="true" sz="3155" spc="-249">
                <a:solidFill>
                  <a:srgbClr val="FFFFFF"/>
                </a:solidFill>
                <a:latin typeface="Garet Bold"/>
                <a:ea typeface="Garet Bold"/>
                <a:cs typeface="Garet Bold"/>
                <a:sym typeface="Garet Bold"/>
              </a:rPr>
              <a:t> </a:t>
            </a:r>
            <a:r>
              <a:rPr lang="en-US" sz="3155" spc="-249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Lens</a:t>
            </a:r>
          </a:p>
          <a:p>
            <a:pPr algn="l" marL="681212" indent="-340606" lvl="1">
              <a:lnSpc>
                <a:spcPts val="4417"/>
              </a:lnSpc>
              <a:buFont typeface="Arial"/>
              <a:buChar char="•"/>
            </a:pPr>
            <a:r>
              <a:rPr lang="en-US" sz="3155" spc="-251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Microsoft OneNote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2125004" y="4364136"/>
            <a:ext cx="8931905" cy="28530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914168" indent="-304723" lvl="2">
              <a:lnSpc>
                <a:spcPts val="5598"/>
              </a:lnSpc>
              <a:buFont typeface="Arial"/>
              <a:buChar char="⚬"/>
            </a:pPr>
            <a:r>
              <a:rPr lang="en-US" b="true" sz="3998" spc="-315">
                <a:solidFill>
                  <a:srgbClr val="FFFFFF"/>
                </a:solidFill>
                <a:latin typeface="Garet Bold"/>
                <a:ea typeface="Garet Bold"/>
                <a:cs typeface="Garet Bold"/>
                <a:sym typeface="Garet Bold"/>
              </a:rPr>
              <a:t> Limitations</a:t>
            </a:r>
          </a:p>
          <a:p>
            <a:pPr algn="l" marL="669076" indent="-334538" lvl="1">
              <a:lnSpc>
                <a:spcPts val="4338"/>
              </a:lnSpc>
              <a:buFont typeface="Arial"/>
              <a:buChar char="•"/>
            </a:pPr>
            <a:r>
              <a:rPr lang="en-US" sz="3099" spc="-244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Inaccurate  OCR for messy</a:t>
            </a:r>
          </a:p>
          <a:p>
            <a:pPr algn="l" marL="669076" indent="-334538" lvl="1">
              <a:lnSpc>
                <a:spcPts val="4338"/>
              </a:lnSpc>
              <a:buFont typeface="Arial"/>
              <a:buChar char="•"/>
            </a:pPr>
            <a:r>
              <a:rPr lang="en-US" sz="3099" spc="-244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Handwriting</a:t>
            </a:r>
          </a:p>
          <a:p>
            <a:pPr algn="l" marL="669076" indent="-334538" lvl="1">
              <a:lnSpc>
                <a:spcPts val="4338"/>
              </a:lnSpc>
              <a:buFont typeface="Arial"/>
              <a:buChar char="•"/>
            </a:pPr>
            <a:r>
              <a:rPr lang="en-US" sz="3099" spc="-244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No smart summarization</a:t>
            </a:r>
          </a:p>
          <a:p>
            <a:pPr algn="l" marL="669076" indent="-334538" lvl="1">
              <a:lnSpc>
                <a:spcPts val="4338"/>
              </a:lnSpc>
              <a:buFont typeface="Arial"/>
              <a:buChar char="•"/>
            </a:pPr>
            <a:r>
              <a:rPr lang="en-US" sz="3099" spc="-247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No structured outpu</a:t>
            </a:r>
            <a:r>
              <a:rPr lang="en-US" b="true" sz="3099" spc="-247">
                <a:solidFill>
                  <a:srgbClr val="FFFFFF"/>
                </a:solidFill>
                <a:latin typeface="Garet Bold"/>
                <a:ea typeface="Garet Bold"/>
                <a:cs typeface="Garet Bold"/>
                <a:sym typeface="Garet Bold"/>
              </a:rPr>
              <a:t>t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2125004" y="7655343"/>
            <a:ext cx="6899081" cy="17589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91309" indent="-297103" lvl="2">
              <a:lnSpc>
                <a:spcPts val="5458"/>
              </a:lnSpc>
              <a:buFont typeface="Arial"/>
              <a:buChar char="⚬"/>
            </a:pPr>
            <a:r>
              <a:rPr lang="en-US" b="true" sz="3898" spc="-308">
                <a:solidFill>
                  <a:srgbClr val="FFFFFF"/>
                </a:solidFill>
                <a:latin typeface="Garet Bold"/>
                <a:ea typeface="Garet Bold"/>
                <a:cs typeface="Garet Bold"/>
                <a:sym typeface="Garet Bold"/>
              </a:rPr>
              <a:t>Gap:</a:t>
            </a:r>
          </a:p>
          <a:p>
            <a:pPr algn="l" marL="669076" indent="-334538" lvl="1">
              <a:lnSpc>
                <a:spcPts val="4338"/>
              </a:lnSpc>
              <a:buFont typeface="Arial"/>
              <a:buChar char="•"/>
            </a:pPr>
            <a:r>
              <a:rPr lang="en-US" sz="3099" spc="-247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Lack of AI- based summarization and Structured notes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1221877" y="1503969"/>
            <a:ext cx="16230600" cy="302552"/>
          </a:xfrm>
          <a:custGeom>
            <a:avLst/>
            <a:gdLst/>
            <a:ahLst/>
            <a:cxnLst/>
            <a:rect r="r" b="b" t="t" l="l"/>
            <a:pathLst>
              <a:path h="302552" w="16230600">
                <a:moveTo>
                  <a:pt x="0" y="0"/>
                </a:moveTo>
                <a:lnTo>
                  <a:pt x="16230600" y="0"/>
                </a:lnTo>
                <a:lnTo>
                  <a:pt x="16230600" y="302552"/>
                </a:lnTo>
                <a:lnTo>
                  <a:pt x="0" y="30255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9" id="9"/>
          <p:cNvGrpSpPr/>
          <p:nvPr/>
        </p:nvGrpSpPr>
        <p:grpSpPr>
          <a:xfrm rot="0">
            <a:off x="633298" y="575310"/>
            <a:ext cx="2131571" cy="1004830"/>
            <a:chOff x="0" y="0"/>
            <a:chExt cx="2842095" cy="1339774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842133" cy="1339723"/>
            </a:xfrm>
            <a:custGeom>
              <a:avLst/>
              <a:gdLst/>
              <a:ahLst/>
              <a:cxnLst/>
              <a:rect r="r" b="b" t="t" l="l"/>
              <a:pathLst>
                <a:path h="1339723" w="2842133">
                  <a:moveTo>
                    <a:pt x="0" y="0"/>
                  </a:moveTo>
                  <a:lnTo>
                    <a:pt x="2842133" y="0"/>
                  </a:lnTo>
                  <a:lnTo>
                    <a:pt x="2842133" y="1339723"/>
                  </a:lnTo>
                  <a:lnTo>
                    <a:pt x="0" y="133972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86" t="0" r="-85" b="-3"/>
              </a:stretch>
            </a:blip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15978664" y="-269129"/>
            <a:ext cx="2475690" cy="2475690"/>
            <a:chOff x="0" y="0"/>
            <a:chExt cx="3300921" cy="3300921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3300984" cy="3300984"/>
            </a:xfrm>
            <a:custGeom>
              <a:avLst/>
              <a:gdLst/>
              <a:ahLst/>
              <a:cxnLst/>
              <a:rect r="r" b="b" t="t" l="l"/>
              <a:pathLst>
                <a:path h="3300984" w="3300984">
                  <a:moveTo>
                    <a:pt x="0" y="0"/>
                  </a:moveTo>
                  <a:lnTo>
                    <a:pt x="3300984" y="0"/>
                  </a:lnTo>
                  <a:lnTo>
                    <a:pt x="3300984" y="3300984"/>
                  </a:lnTo>
                  <a:lnTo>
                    <a:pt x="0" y="330098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1" b="1"/>
              </a:stretch>
            </a:blipFill>
          </p:spPr>
        </p: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9271" r="0" b="-9271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4395065" y="430216"/>
            <a:ext cx="9756749" cy="854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998"/>
              </a:lnSpc>
            </a:pPr>
            <a:r>
              <a:rPr lang="en-US" b="true" sz="4999" spc="-399" u="sng">
                <a:solidFill>
                  <a:srgbClr val="FFFFFF"/>
                </a:solidFill>
                <a:latin typeface="Garet Bold"/>
                <a:ea typeface="Garet Bold"/>
                <a:cs typeface="Garet Bold"/>
                <a:sym typeface="Garet Bold"/>
              </a:rPr>
              <a:t>PROPOSED  SOLUTION 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186120" y="2250764"/>
            <a:ext cx="7497929" cy="5803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77117" indent="-259039" lvl="2">
              <a:lnSpc>
                <a:spcPts val="4759"/>
              </a:lnSpc>
              <a:buFont typeface="Arial"/>
              <a:buChar char="⚬"/>
            </a:pPr>
            <a:r>
              <a:rPr lang="en-US" b="true" sz="3399" spc="-271">
                <a:solidFill>
                  <a:srgbClr val="FFFFFF"/>
                </a:solidFill>
                <a:latin typeface="Garet Bold"/>
                <a:ea typeface="Garet Bold"/>
                <a:cs typeface="Garet Bold"/>
                <a:sym typeface="Garet Bold"/>
              </a:rPr>
              <a:t>Explain your solution clearly .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186120" y="4819980"/>
            <a:ext cx="4218172" cy="5803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77117" indent="-259039" lvl="2">
              <a:lnSpc>
                <a:spcPts val="4759"/>
              </a:lnSpc>
              <a:buFont typeface="Arial"/>
              <a:buChar char="⚬"/>
            </a:pPr>
            <a:r>
              <a:rPr lang="en-US" b="true" sz="3399" spc="-271">
                <a:solidFill>
                  <a:srgbClr val="FFFFFF"/>
                </a:solidFill>
                <a:latin typeface="Garet Bold"/>
                <a:ea typeface="Garet Bold"/>
                <a:cs typeface="Garet Bold"/>
                <a:sym typeface="Garet Bold"/>
              </a:rPr>
              <a:t>List key features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1028700" y="1460497"/>
            <a:ext cx="16230600" cy="302552"/>
          </a:xfrm>
          <a:custGeom>
            <a:avLst/>
            <a:gdLst/>
            <a:ahLst/>
            <a:cxnLst/>
            <a:rect r="r" b="b" t="t" l="l"/>
            <a:pathLst>
              <a:path h="302552" w="16230600">
                <a:moveTo>
                  <a:pt x="0" y="0"/>
                </a:moveTo>
                <a:lnTo>
                  <a:pt x="16230600" y="0"/>
                </a:lnTo>
                <a:lnTo>
                  <a:pt x="16230600" y="302552"/>
                </a:lnTo>
                <a:lnTo>
                  <a:pt x="0" y="30255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8" id="8"/>
          <p:cNvGrpSpPr/>
          <p:nvPr/>
        </p:nvGrpSpPr>
        <p:grpSpPr>
          <a:xfrm rot="0">
            <a:off x="633298" y="575310"/>
            <a:ext cx="2131571" cy="1004830"/>
            <a:chOff x="0" y="0"/>
            <a:chExt cx="2842095" cy="1339774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842133" cy="1339723"/>
            </a:xfrm>
            <a:custGeom>
              <a:avLst/>
              <a:gdLst/>
              <a:ahLst/>
              <a:cxnLst/>
              <a:rect r="r" b="b" t="t" l="l"/>
              <a:pathLst>
                <a:path h="1339723" w="2842133">
                  <a:moveTo>
                    <a:pt x="0" y="0"/>
                  </a:moveTo>
                  <a:lnTo>
                    <a:pt x="2842133" y="0"/>
                  </a:lnTo>
                  <a:lnTo>
                    <a:pt x="2842133" y="1339723"/>
                  </a:lnTo>
                  <a:lnTo>
                    <a:pt x="0" y="133972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86" t="0" r="-85" b="-3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5978664" y="-269129"/>
            <a:ext cx="2475690" cy="2475690"/>
            <a:chOff x="0" y="0"/>
            <a:chExt cx="3300921" cy="3300921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3300984" cy="3300984"/>
            </a:xfrm>
            <a:custGeom>
              <a:avLst/>
              <a:gdLst/>
              <a:ahLst/>
              <a:cxnLst/>
              <a:rect r="r" b="b" t="t" l="l"/>
              <a:pathLst>
                <a:path h="3300984" w="3300984">
                  <a:moveTo>
                    <a:pt x="0" y="0"/>
                  </a:moveTo>
                  <a:lnTo>
                    <a:pt x="3300984" y="0"/>
                  </a:lnTo>
                  <a:lnTo>
                    <a:pt x="3300984" y="3300984"/>
                  </a:lnTo>
                  <a:lnTo>
                    <a:pt x="0" y="330098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1" b="1"/>
              </a:stretch>
            </a:blipFill>
          </p:spPr>
        </p:sp>
      </p:grpSp>
      <p:sp>
        <p:nvSpPr>
          <p:cNvPr name="TextBox 12" id="12"/>
          <p:cNvSpPr txBox="true"/>
          <p:nvPr/>
        </p:nvSpPr>
        <p:spPr>
          <a:xfrm rot="0">
            <a:off x="1929281" y="3069253"/>
            <a:ext cx="14429438" cy="11448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18"/>
              </a:lnSpc>
            </a:pPr>
            <a:r>
              <a:rPr lang="en-US" sz="3299" spc="-263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An AI-powered web app that converts handwritten notes into digital text and generates summaries.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699084" y="5636771"/>
            <a:ext cx="6027837" cy="28879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12255" indent="-356127" lvl="1">
              <a:lnSpc>
                <a:spcPts val="4618"/>
              </a:lnSpc>
              <a:buFont typeface="Arial"/>
              <a:buChar char="•"/>
            </a:pPr>
            <a:r>
              <a:rPr lang="en-US" sz="3299" spc="-260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Image Upload</a:t>
            </a:r>
          </a:p>
          <a:p>
            <a:pPr algn="l" marL="712255" indent="-356127" lvl="1">
              <a:lnSpc>
                <a:spcPts val="4618"/>
              </a:lnSpc>
              <a:buFont typeface="Arial"/>
              <a:buChar char="•"/>
            </a:pPr>
            <a:r>
              <a:rPr lang="en-US" sz="3299" spc="-260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OCR Text Extraction</a:t>
            </a:r>
          </a:p>
          <a:p>
            <a:pPr algn="l" marL="712255" indent="-356127" lvl="1">
              <a:lnSpc>
                <a:spcPts val="4618"/>
              </a:lnSpc>
              <a:buFont typeface="Arial"/>
              <a:buChar char="•"/>
            </a:pPr>
            <a:r>
              <a:rPr lang="en-US" sz="3299" spc="-260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AI-based Summary</a:t>
            </a:r>
          </a:p>
          <a:p>
            <a:pPr algn="l" marL="712255" indent="-356127" lvl="1">
              <a:lnSpc>
                <a:spcPts val="4618"/>
              </a:lnSpc>
              <a:buFont typeface="Arial"/>
              <a:buChar char="•"/>
            </a:pPr>
            <a:r>
              <a:rPr lang="en-US" sz="3299" spc="-260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Clean and structured output</a:t>
            </a:r>
          </a:p>
          <a:p>
            <a:pPr algn="l" marL="712255" indent="-356127" lvl="1">
              <a:lnSpc>
                <a:spcPts val="4618"/>
              </a:lnSpc>
              <a:buFont typeface="Arial"/>
              <a:buChar char="•"/>
            </a:pPr>
            <a:r>
              <a:rPr lang="en-US" sz="3299" spc="-263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Searchable notes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9271" r="0" b="-9271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3455440" y="676564"/>
            <a:ext cx="11377120" cy="9035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419"/>
              </a:lnSpc>
            </a:pPr>
            <a:r>
              <a:rPr lang="en-US" b="true" sz="5298" spc="-422" u="sng">
                <a:solidFill>
                  <a:srgbClr val="FFFFFF"/>
                </a:solidFill>
                <a:latin typeface="Garet Bold"/>
                <a:ea typeface="Garet Bold"/>
                <a:cs typeface="Garet Bold"/>
                <a:sym typeface="Garet Bold"/>
              </a:rPr>
              <a:t>FLOWCHART  /  WORKING PROCESS 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2179280" y="2130362"/>
            <a:ext cx="13929439" cy="35449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76625" indent="-438312" lvl="1">
              <a:lnSpc>
                <a:spcPts val="5684"/>
              </a:lnSpc>
              <a:buFont typeface="Arial"/>
              <a:buChar char="•"/>
            </a:pPr>
            <a:r>
              <a:rPr lang="en-US" sz="4060" spc="-320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User uploads handwritten image </a:t>
            </a:r>
          </a:p>
          <a:p>
            <a:pPr algn="l" marL="876625" indent="-438312" lvl="1">
              <a:lnSpc>
                <a:spcPts val="5684"/>
              </a:lnSpc>
              <a:buFont typeface="Arial"/>
              <a:buChar char="•"/>
            </a:pPr>
            <a:r>
              <a:rPr lang="en-US" sz="4060" spc="-320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Image preprocessing using OpenCV</a:t>
            </a:r>
          </a:p>
          <a:p>
            <a:pPr algn="l" marL="876625" indent="-438312" lvl="1">
              <a:lnSpc>
                <a:spcPts val="5684"/>
              </a:lnSpc>
              <a:buFont typeface="Arial"/>
              <a:buChar char="•"/>
            </a:pPr>
            <a:r>
              <a:rPr lang="en-US" sz="4060" spc="-320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OCR extracts text</a:t>
            </a:r>
          </a:p>
          <a:p>
            <a:pPr algn="l" marL="876625" indent="-438312" lvl="1">
              <a:lnSpc>
                <a:spcPts val="5684"/>
              </a:lnSpc>
              <a:buFont typeface="Arial"/>
              <a:buChar char="•"/>
            </a:pPr>
            <a:r>
              <a:rPr lang="en-US" sz="4060" spc="-320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AI generates summary</a:t>
            </a:r>
          </a:p>
          <a:p>
            <a:pPr algn="l" marL="876625" indent="-438312" lvl="1">
              <a:lnSpc>
                <a:spcPts val="5684"/>
              </a:lnSpc>
              <a:buFont typeface="Arial"/>
              <a:buChar char="•"/>
            </a:pPr>
            <a:r>
              <a:rPr lang="en-US" sz="4060" spc="-323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Final output displayed to user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1287580" y="1396632"/>
            <a:ext cx="16230600" cy="302552"/>
          </a:xfrm>
          <a:custGeom>
            <a:avLst/>
            <a:gdLst/>
            <a:ahLst/>
            <a:cxnLst/>
            <a:rect r="r" b="b" t="t" l="l"/>
            <a:pathLst>
              <a:path h="302552" w="16230600">
                <a:moveTo>
                  <a:pt x="0" y="0"/>
                </a:moveTo>
                <a:lnTo>
                  <a:pt x="16230600" y="0"/>
                </a:lnTo>
                <a:lnTo>
                  <a:pt x="16230600" y="302552"/>
                </a:lnTo>
                <a:lnTo>
                  <a:pt x="0" y="30255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633298" y="575310"/>
            <a:ext cx="2131571" cy="1004830"/>
            <a:chOff x="0" y="0"/>
            <a:chExt cx="2842095" cy="1339774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842133" cy="1339723"/>
            </a:xfrm>
            <a:custGeom>
              <a:avLst/>
              <a:gdLst/>
              <a:ahLst/>
              <a:cxnLst/>
              <a:rect r="r" b="b" t="t" l="l"/>
              <a:pathLst>
                <a:path h="1339723" w="2842133">
                  <a:moveTo>
                    <a:pt x="0" y="0"/>
                  </a:moveTo>
                  <a:lnTo>
                    <a:pt x="2842133" y="0"/>
                  </a:lnTo>
                  <a:lnTo>
                    <a:pt x="2842133" y="1339723"/>
                  </a:lnTo>
                  <a:lnTo>
                    <a:pt x="0" y="133972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86" t="0" r="-85" b="-3"/>
              </a:stretch>
            </a:blipFill>
          </p:spPr>
        </p:sp>
      </p:grpSp>
      <p:grpSp>
        <p:nvGrpSpPr>
          <p:cNvPr name="Group 9" id="9"/>
          <p:cNvGrpSpPr/>
          <p:nvPr/>
        </p:nvGrpSpPr>
        <p:grpSpPr>
          <a:xfrm rot="0">
            <a:off x="16007239" y="-269129"/>
            <a:ext cx="2475690" cy="2475690"/>
            <a:chOff x="0" y="0"/>
            <a:chExt cx="3300921" cy="3300921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3300984" cy="3300984"/>
            </a:xfrm>
            <a:custGeom>
              <a:avLst/>
              <a:gdLst/>
              <a:ahLst/>
              <a:cxnLst/>
              <a:rect r="r" b="b" t="t" l="l"/>
              <a:pathLst>
                <a:path h="3300984" w="3300984">
                  <a:moveTo>
                    <a:pt x="0" y="0"/>
                  </a:moveTo>
                  <a:lnTo>
                    <a:pt x="3300984" y="0"/>
                  </a:lnTo>
                  <a:lnTo>
                    <a:pt x="3300984" y="3300984"/>
                  </a:lnTo>
                  <a:lnTo>
                    <a:pt x="0" y="330098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1" b="1"/>
              </a:stretch>
            </a:blipFill>
          </p:spPr>
        </p:sp>
      </p:grpSp>
      <p:sp>
        <p:nvSpPr>
          <p:cNvPr name="TextBox 11" id="11"/>
          <p:cNvSpPr txBox="true"/>
          <p:nvPr/>
        </p:nvSpPr>
        <p:spPr>
          <a:xfrm rot="0">
            <a:off x="1028700" y="6554729"/>
            <a:ext cx="4218172" cy="5803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77117" indent="-259039" lvl="2">
              <a:lnSpc>
                <a:spcPts val="4759"/>
              </a:lnSpc>
              <a:buFont typeface="Arial"/>
              <a:buChar char="⚬"/>
            </a:pPr>
            <a:r>
              <a:rPr lang="en-US" b="true" sz="3399" spc="-271">
                <a:solidFill>
                  <a:srgbClr val="FFFFFF"/>
                </a:solidFill>
                <a:latin typeface="Garet Bold"/>
                <a:ea typeface="Garet Bold"/>
                <a:cs typeface="Garet Bold"/>
                <a:sym typeface="Garet Bold"/>
              </a:rPr>
              <a:t>Flow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287580" y="7401793"/>
            <a:ext cx="15151978" cy="11804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33844" indent="-366922" lvl="1">
              <a:lnSpc>
                <a:spcPts val="4759"/>
              </a:lnSpc>
              <a:buFont typeface="Arial"/>
              <a:buChar char="•"/>
            </a:pPr>
            <a:r>
              <a:rPr lang="en-US" sz="3399" spc="-270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User uploads image → Backend processing → OCR extracts text → AI generates summary → Output displayed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9271" r="0" b="-9271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2764869" y="597741"/>
            <a:ext cx="13669327" cy="11781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607"/>
              </a:lnSpc>
            </a:pPr>
            <a:r>
              <a:rPr lang="en-US" b="true" sz="6861" spc="-547" u="sng">
                <a:solidFill>
                  <a:srgbClr val="FFFFFF"/>
                </a:solidFill>
                <a:latin typeface="Garet Bold"/>
                <a:ea typeface="Garet Bold"/>
                <a:cs typeface="Garet Bold"/>
                <a:sym typeface="Garet Bold"/>
              </a:rPr>
              <a:t>TECH  STACK/ARCHITECTURE 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1028700" y="1253509"/>
            <a:ext cx="16230600" cy="302552"/>
          </a:xfrm>
          <a:custGeom>
            <a:avLst/>
            <a:gdLst/>
            <a:ahLst/>
            <a:cxnLst/>
            <a:rect r="r" b="b" t="t" l="l"/>
            <a:pathLst>
              <a:path h="302552" w="16230600">
                <a:moveTo>
                  <a:pt x="0" y="0"/>
                </a:moveTo>
                <a:lnTo>
                  <a:pt x="16230600" y="0"/>
                </a:lnTo>
                <a:lnTo>
                  <a:pt x="16230600" y="302552"/>
                </a:lnTo>
                <a:lnTo>
                  <a:pt x="0" y="30255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633298" y="575310"/>
            <a:ext cx="2131571" cy="1004830"/>
            <a:chOff x="0" y="0"/>
            <a:chExt cx="2842095" cy="1339774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842133" cy="1339723"/>
            </a:xfrm>
            <a:custGeom>
              <a:avLst/>
              <a:gdLst/>
              <a:ahLst/>
              <a:cxnLst/>
              <a:rect r="r" b="b" t="t" l="l"/>
              <a:pathLst>
                <a:path h="1339723" w="2842133">
                  <a:moveTo>
                    <a:pt x="0" y="0"/>
                  </a:moveTo>
                  <a:lnTo>
                    <a:pt x="2842133" y="0"/>
                  </a:lnTo>
                  <a:lnTo>
                    <a:pt x="2842133" y="1339723"/>
                  </a:lnTo>
                  <a:lnTo>
                    <a:pt x="0" y="133972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86" t="0" r="-85" b="-3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15978664" y="-269129"/>
            <a:ext cx="2475690" cy="2475690"/>
            <a:chOff x="0" y="0"/>
            <a:chExt cx="3300921" cy="3300921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3300984" cy="3300984"/>
            </a:xfrm>
            <a:custGeom>
              <a:avLst/>
              <a:gdLst/>
              <a:ahLst/>
              <a:cxnLst/>
              <a:rect r="r" b="b" t="t" l="l"/>
              <a:pathLst>
                <a:path h="3300984" w="3300984">
                  <a:moveTo>
                    <a:pt x="0" y="0"/>
                  </a:moveTo>
                  <a:lnTo>
                    <a:pt x="3300984" y="0"/>
                  </a:lnTo>
                  <a:lnTo>
                    <a:pt x="3300984" y="3300984"/>
                  </a:lnTo>
                  <a:lnTo>
                    <a:pt x="0" y="330098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1" b="1"/>
              </a:stretch>
            </a:blip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-5522262" y="3098304"/>
            <a:ext cx="23345983" cy="50796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96"/>
              </a:lnSpc>
            </a:pPr>
            <a:r>
              <a:rPr lang="en-US" sz="3640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                                Frontend: </a:t>
            </a:r>
            <a:r>
              <a:rPr lang="en-US" sz="364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Next.js (fast UI and server-side rendering)</a:t>
            </a:r>
          </a:p>
          <a:p>
            <a:pPr algn="ctr">
              <a:lnSpc>
                <a:spcPts val="5096"/>
              </a:lnSpc>
            </a:pPr>
          </a:p>
          <a:p>
            <a:pPr algn="ctr">
              <a:lnSpc>
                <a:spcPts val="5096"/>
              </a:lnSpc>
            </a:pPr>
            <a:r>
              <a:rPr lang="en-US" sz="364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                  </a:t>
            </a:r>
            <a:r>
              <a:rPr lang="en-US" sz="3640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Backen</a:t>
            </a:r>
            <a:r>
              <a:rPr lang="en-US" b="true" sz="364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d: </a:t>
            </a:r>
            <a:r>
              <a:rPr lang="en-US" sz="364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Node.js and Express (API handling)</a:t>
            </a:r>
          </a:p>
          <a:p>
            <a:pPr algn="ctr">
              <a:lnSpc>
                <a:spcPts val="5096"/>
              </a:lnSpc>
            </a:pPr>
          </a:p>
          <a:p>
            <a:pPr algn="ctr">
              <a:lnSpc>
                <a:spcPts val="5096"/>
              </a:lnSpc>
            </a:pPr>
            <a:r>
              <a:rPr lang="en-US" b="true" sz="364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Database: </a:t>
            </a:r>
            <a:r>
              <a:rPr lang="en-US" sz="364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MongoDB (data storage)</a:t>
            </a:r>
          </a:p>
          <a:p>
            <a:pPr algn="ctr">
              <a:lnSpc>
                <a:spcPts val="5096"/>
              </a:lnSpc>
            </a:pPr>
          </a:p>
          <a:p>
            <a:pPr algn="ctr">
              <a:lnSpc>
                <a:spcPts val="5096"/>
              </a:lnSpc>
            </a:pPr>
            <a:r>
              <a:rPr lang="en-US" b="true" sz="364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                                                        AI Tools: </a:t>
            </a:r>
            <a:r>
              <a:rPr lang="en-US" sz="364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Python, OpenCV, OCR (text extraction and processing)</a:t>
            </a:r>
          </a:p>
          <a:p>
            <a:pPr algn="ctr">
              <a:lnSpc>
                <a:spcPts val="5096"/>
              </a:lnSpc>
            </a:pP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9271" r="0" b="-9271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5730030" y="271863"/>
            <a:ext cx="7003999" cy="863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000"/>
              </a:lnSpc>
            </a:pPr>
            <a:r>
              <a:rPr lang="en-US" b="true" sz="4999" spc="-399" u="sng">
                <a:solidFill>
                  <a:srgbClr val="FFFFFF"/>
                </a:solidFill>
                <a:latin typeface="Garet Bold"/>
                <a:ea typeface="Garet Bold"/>
                <a:cs typeface="Garet Bold"/>
                <a:sym typeface="Garet Bold"/>
              </a:rPr>
              <a:t>IMPLEMENTATION  PLAN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1116730" y="1307173"/>
            <a:ext cx="16230600" cy="302552"/>
          </a:xfrm>
          <a:custGeom>
            <a:avLst/>
            <a:gdLst/>
            <a:ahLst/>
            <a:cxnLst/>
            <a:rect r="r" b="b" t="t" l="l"/>
            <a:pathLst>
              <a:path h="302552" w="16230600">
                <a:moveTo>
                  <a:pt x="0" y="0"/>
                </a:moveTo>
                <a:lnTo>
                  <a:pt x="16230600" y="0"/>
                </a:lnTo>
                <a:lnTo>
                  <a:pt x="16230600" y="302552"/>
                </a:lnTo>
                <a:lnTo>
                  <a:pt x="0" y="30255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633298" y="575310"/>
            <a:ext cx="2131571" cy="1004830"/>
            <a:chOff x="0" y="0"/>
            <a:chExt cx="2842095" cy="1339774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842133" cy="1339723"/>
            </a:xfrm>
            <a:custGeom>
              <a:avLst/>
              <a:gdLst/>
              <a:ahLst/>
              <a:cxnLst/>
              <a:rect r="r" b="b" t="t" l="l"/>
              <a:pathLst>
                <a:path h="1339723" w="2842133">
                  <a:moveTo>
                    <a:pt x="0" y="0"/>
                  </a:moveTo>
                  <a:lnTo>
                    <a:pt x="2842133" y="0"/>
                  </a:lnTo>
                  <a:lnTo>
                    <a:pt x="2842133" y="1339723"/>
                  </a:lnTo>
                  <a:lnTo>
                    <a:pt x="0" y="133972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86" t="0" r="-85" b="-3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15978664" y="-269129"/>
            <a:ext cx="2475690" cy="2475690"/>
            <a:chOff x="0" y="0"/>
            <a:chExt cx="3300921" cy="3300921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3300984" cy="3300984"/>
            </a:xfrm>
            <a:custGeom>
              <a:avLst/>
              <a:gdLst/>
              <a:ahLst/>
              <a:cxnLst/>
              <a:rect r="r" b="b" t="t" l="l"/>
              <a:pathLst>
                <a:path h="3300984" w="3300984">
                  <a:moveTo>
                    <a:pt x="0" y="0"/>
                  </a:moveTo>
                  <a:lnTo>
                    <a:pt x="3300984" y="0"/>
                  </a:lnTo>
                  <a:lnTo>
                    <a:pt x="3300984" y="3300984"/>
                  </a:lnTo>
                  <a:lnTo>
                    <a:pt x="0" y="330098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1" b="1"/>
              </a:stretch>
            </a:blip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3017492" y="2240728"/>
            <a:ext cx="12961172" cy="57007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177844" indent="-588922" lvl="1">
              <a:lnSpc>
                <a:spcPts val="7637"/>
              </a:lnSpc>
              <a:buFont typeface="Arial"/>
              <a:buChar char="•"/>
            </a:pPr>
            <a:r>
              <a:rPr lang="en-US" sz="5455" spc="-430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Build frontend UI</a:t>
            </a:r>
          </a:p>
          <a:p>
            <a:pPr algn="l" marL="1177844" indent="-588922" lvl="1">
              <a:lnSpc>
                <a:spcPts val="7637"/>
              </a:lnSpc>
              <a:buFont typeface="Arial"/>
              <a:buChar char="•"/>
            </a:pPr>
            <a:r>
              <a:rPr lang="en-US" sz="5455" spc="-430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Develop backend APIs</a:t>
            </a:r>
          </a:p>
          <a:p>
            <a:pPr algn="l" marL="1177844" indent="-588922" lvl="1">
              <a:lnSpc>
                <a:spcPts val="7637"/>
              </a:lnSpc>
              <a:buFont typeface="Arial"/>
              <a:buChar char="•"/>
            </a:pPr>
            <a:r>
              <a:rPr lang="en-US" sz="5455" spc="-430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Integrate OCR system</a:t>
            </a:r>
          </a:p>
          <a:p>
            <a:pPr algn="l" marL="1177844" indent="-588922" lvl="1">
              <a:lnSpc>
                <a:spcPts val="7637"/>
              </a:lnSpc>
              <a:buFont typeface="Arial"/>
              <a:buChar char="•"/>
            </a:pPr>
            <a:r>
              <a:rPr lang="en-US" sz="5455" spc="-430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Implement summarization</a:t>
            </a:r>
          </a:p>
          <a:p>
            <a:pPr algn="l" marL="1177844" indent="-588922" lvl="1">
              <a:lnSpc>
                <a:spcPts val="7637"/>
              </a:lnSpc>
              <a:buFont typeface="Arial"/>
              <a:buChar char="•"/>
            </a:pPr>
            <a:r>
              <a:rPr lang="en-US" sz="5455" spc="-430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Connect database</a:t>
            </a:r>
          </a:p>
          <a:p>
            <a:pPr algn="l" marL="1177844" indent="-588922" lvl="1">
              <a:lnSpc>
                <a:spcPts val="7638"/>
              </a:lnSpc>
              <a:buFont typeface="Arial"/>
              <a:buChar char="•"/>
            </a:pPr>
            <a:r>
              <a:rPr lang="en-US" sz="5455" spc="-434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Testing and optimization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9271" r="0" b="-9271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4896555" y="272815"/>
            <a:ext cx="8827741" cy="1749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000"/>
              </a:lnSpc>
            </a:pPr>
            <a:r>
              <a:rPr lang="en-US" b="true" sz="4999" spc="-399">
                <a:solidFill>
                  <a:srgbClr val="FFFFFF"/>
                </a:solidFill>
                <a:latin typeface="Garet Bold"/>
                <a:ea typeface="Garet Bold"/>
                <a:cs typeface="Garet Bold"/>
                <a:sym typeface="Garet Bold"/>
              </a:rPr>
              <a:t>EXPECTED OUTCOME  / IMPACT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901379" y="2583345"/>
            <a:ext cx="15546638" cy="29806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77011" indent="-259004" lvl="2">
              <a:lnSpc>
                <a:spcPts val="4758"/>
              </a:lnSpc>
              <a:buFont typeface="Arial"/>
              <a:buChar char="⚬"/>
            </a:pPr>
            <a:r>
              <a:rPr lang="en-US" b="true" sz="3399" spc="-268">
                <a:solidFill>
                  <a:srgbClr val="FFFFFF"/>
                </a:solidFill>
                <a:latin typeface="Garet Bold"/>
                <a:ea typeface="Garet Bold"/>
                <a:cs typeface="Garet Bold"/>
                <a:sym typeface="Garet Bold"/>
              </a:rPr>
              <a:t>Expected results of the project </a:t>
            </a:r>
          </a:p>
          <a:p>
            <a:pPr algn="l" marL="5136909" indent="-642114" lvl="7">
              <a:lnSpc>
                <a:spcPts val="4758"/>
              </a:lnSpc>
              <a:buFont typeface="Arial"/>
              <a:buChar char="•"/>
            </a:pPr>
            <a:r>
              <a:rPr lang="en-US" sz="3399" spc="-268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Fast and accurate conversion of handwritten notes into digital text</a:t>
            </a:r>
          </a:p>
          <a:p>
            <a:pPr algn="l" marL="5136909" indent="-642114" lvl="7">
              <a:lnSpc>
                <a:spcPts val="4758"/>
              </a:lnSpc>
              <a:buFont typeface="Arial"/>
              <a:buChar char="•"/>
            </a:pPr>
            <a:r>
              <a:rPr lang="en-US" sz="3399" spc="-268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Structured, searchable, and editable notes</a:t>
            </a:r>
          </a:p>
          <a:p>
            <a:pPr algn="l" marL="777117" indent="-259039" lvl="2">
              <a:lnSpc>
                <a:spcPts val="4759"/>
              </a:lnSpc>
              <a:buFont typeface="Arial"/>
              <a:buChar char="⚬"/>
            </a:pPr>
          </a:p>
        </p:txBody>
      </p:sp>
      <p:sp>
        <p:nvSpPr>
          <p:cNvPr name="TextBox 6" id="6"/>
          <p:cNvSpPr txBox="true"/>
          <p:nvPr/>
        </p:nvSpPr>
        <p:spPr>
          <a:xfrm rot="0">
            <a:off x="891778" y="4991100"/>
            <a:ext cx="15556240" cy="17805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77011" indent="-259004" lvl="2">
              <a:lnSpc>
                <a:spcPts val="4758"/>
              </a:lnSpc>
              <a:buFont typeface="Arial"/>
              <a:buChar char="⚬"/>
            </a:pPr>
            <a:r>
              <a:rPr lang="en-US" b="true" sz="3399" spc="-268">
                <a:solidFill>
                  <a:srgbClr val="FFFFFF"/>
                </a:solidFill>
                <a:latin typeface="Garet Bold"/>
                <a:ea typeface="Garet Bold"/>
                <a:cs typeface="Garet Bold"/>
                <a:sym typeface="Garet Bold"/>
              </a:rPr>
              <a:t>Benefits to users  </a:t>
            </a:r>
          </a:p>
          <a:p>
            <a:pPr algn="l" marL="5136909" indent="-642114" lvl="7">
              <a:lnSpc>
                <a:spcPts val="4758"/>
              </a:lnSpc>
              <a:buFont typeface="Arial"/>
              <a:buChar char="•"/>
            </a:pPr>
            <a:r>
              <a:rPr lang="en-US" sz="3399" spc="-268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Saves time and improves revision efficiency</a:t>
            </a:r>
          </a:p>
          <a:p>
            <a:pPr algn="l" marL="5136909" indent="-642114" lvl="7">
              <a:lnSpc>
                <a:spcPts val="4759"/>
              </a:lnSpc>
              <a:buFont typeface="Arial"/>
              <a:buChar char="•"/>
            </a:pPr>
            <a:r>
              <a:rPr lang="en-US" sz="3399" spc="-271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Easy access, sharing, and organization of notes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01303" y="6704965"/>
            <a:ext cx="15077361" cy="23806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77011" indent="-259004" lvl="2">
              <a:lnSpc>
                <a:spcPts val="4758"/>
              </a:lnSpc>
              <a:buFont typeface="Arial"/>
              <a:buChar char="⚬"/>
            </a:pPr>
            <a:r>
              <a:rPr lang="en-US" b="true" sz="3399" spc="-268">
                <a:solidFill>
                  <a:srgbClr val="FFFFFF"/>
                </a:solidFill>
                <a:latin typeface="Garet Bold"/>
                <a:ea typeface="Garet Bold"/>
                <a:cs typeface="Garet Bold"/>
                <a:sym typeface="Garet Bold"/>
              </a:rPr>
              <a:t>Real-world impact </a:t>
            </a:r>
          </a:p>
          <a:p>
            <a:pPr algn="l" marL="5136909" indent="-642114" lvl="7">
              <a:lnSpc>
                <a:spcPts val="4758"/>
              </a:lnSpc>
              <a:buFont typeface="Arial"/>
              <a:buChar char="•"/>
            </a:pPr>
            <a:r>
              <a:rPr lang="en-US" sz="3399" spc="-268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Promotes digital and paperless learning</a:t>
            </a:r>
          </a:p>
          <a:p>
            <a:pPr algn="l" marL="5136909" indent="-642114" lvl="7">
              <a:lnSpc>
                <a:spcPts val="4759"/>
              </a:lnSpc>
              <a:buFont typeface="Arial"/>
              <a:buChar char="•"/>
            </a:pPr>
            <a:r>
              <a:rPr lang="en-US" sz="3399" spc="-271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Useful for students, teachers, and professionals in daily workflows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1565415" y="1289285"/>
            <a:ext cx="16230600" cy="302552"/>
          </a:xfrm>
          <a:custGeom>
            <a:avLst/>
            <a:gdLst/>
            <a:ahLst/>
            <a:cxnLst/>
            <a:rect r="r" b="b" t="t" l="l"/>
            <a:pathLst>
              <a:path h="302552" w="16230600">
                <a:moveTo>
                  <a:pt x="0" y="0"/>
                </a:moveTo>
                <a:lnTo>
                  <a:pt x="16230600" y="0"/>
                </a:lnTo>
                <a:lnTo>
                  <a:pt x="16230600" y="302552"/>
                </a:lnTo>
                <a:lnTo>
                  <a:pt x="0" y="30255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9" id="9"/>
          <p:cNvGrpSpPr/>
          <p:nvPr/>
        </p:nvGrpSpPr>
        <p:grpSpPr>
          <a:xfrm rot="0">
            <a:off x="633298" y="575310"/>
            <a:ext cx="2131571" cy="1004830"/>
            <a:chOff x="0" y="0"/>
            <a:chExt cx="2842095" cy="1339774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842133" cy="1339723"/>
            </a:xfrm>
            <a:custGeom>
              <a:avLst/>
              <a:gdLst/>
              <a:ahLst/>
              <a:cxnLst/>
              <a:rect r="r" b="b" t="t" l="l"/>
              <a:pathLst>
                <a:path h="1339723" w="2842133">
                  <a:moveTo>
                    <a:pt x="0" y="0"/>
                  </a:moveTo>
                  <a:lnTo>
                    <a:pt x="2842133" y="0"/>
                  </a:lnTo>
                  <a:lnTo>
                    <a:pt x="2842133" y="1339723"/>
                  </a:lnTo>
                  <a:lnTo>
                    <a:pt x="0" y="133972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86" t="0" r="-85" b="-3"/>
              </a:stretch>
            </a:blip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15978664" y="-269129"/>
            <a:ext cx="2475690" cy="2475690"/>
            <a:chOff x="0" y="0"/>
            <a:chExt cx="3300921" cy="3300921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3300984" cy="3300984"/>
            </a:xfrm>
            <a:custGeom>
              <a:avLst/>
              <a:gdLst/>
              <a:ahLst/>
              <a:cxnLst/>
              <a:rect r="r" b="b" t="t" l="l"/>
              <a:pathLst>
                <a:path h="3300984" w="3300984">
                  <a:moveTo>
                    <a:pt x="0" y="0"/>
                  </a:moveTo>
                  <a:lnTo>
                    <a:pt x="3300984" y="0"/>
                  </a:lnTo>
                  <a:lnTo>
                    <a:pt x="3300984" y="3300984"/>
                  </a:lnTo>
                  <a:lnTo>
                    <a:pt x="0" y="330098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1" b="1"/>
              </a:stretch>
            </a:blipFill>
          </p:spPr>
        </p:sp>
      </p:grp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9271" r="0" b="-9271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4503649" y="226247"/>
            <a:ext cx="9836648" cy="1749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000"/>
              </a:lnSpc>
            </a:pPr>
            <a:r>
              <a:rPr lang="en-US" b="true" sz="4999" spc="-399">
                <a:solidFill>
                  <a:srgbClr val="FFFFFF"/>
                </a:solidFill>
                <a:latin typeface="Garet Bold"/>
                <a:ea typeface="Garet Bold"/>
                <a:cs typeface="Garet Bold"/>
                <a:sym typeface="Garet Bold"/>
              </a:rPr>
              <a:t>FUTURE  SCOPE  AND  CONCLUSION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901379" y="2850153"/>
            <a:ext cx="14633506" cy="23806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77011" indent="-259004" lvl="2">
              <a:lnSpc>
                <a:spcPts val="4758"/>
              </a:lnSpc>
              <a:buFont typeface="Arial"/>
              <a:buChar char="⚬"/>
            </a:pPr>
            <a:r>
              <a:rPr lang="en-US" b="true" sz="3399" spc="-268">
                <a:solidFill>
                  <a:srgbClr val="FFFFFF"/>
                </a:solidFill>
                <a:latin typeface="Garet Bold"/>
                <a:ea typeface="Garet Bold"/>
                <a:cs typeface="Garet Bold"/>
                <a:sym typeface="Garet Bold"/>
              </a:rPr>
              <a:t>Future improvements </a:t>
            </a:r>
          </a:p>
          <a:p>
            <a:pPr algn="l" marL="4403065" indent="-629009" lvl="6">
              <a:lnSpc>
                <a:spcPts val="4758"/>
              </a:lnSpc>
              <a:buFont typeface="Arial"/>
              <a:buChar char="￭"/>
            </a:pPr>
            <a:r>
              <a:rPr lang="en-US" sz="3399" spc="-268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Add multi-language support and voice-to-text features</a:t>
            </a:r>
          </a:p>
          <a:p>
            <a:pPr algn="l" marL="4403065" indent="-629009" lvl="6">
              <a:lnSpc>
                <a:spcPts val="4759"/>
              </a:lnSpc>
              <a:buFont typeface="Arial"/>
              <a:buChar char="￭"/>
            </a:pPr>
            <a:r>
              <a:rPr lang="en-US" sz="3399" spc="-271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Improve OCR accuracy using advanced AI models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840290" y="7617547"/>
            <a:ext cx="16607419" cy="17805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77011" indent="-259004" lvl="2">
              <a:lnSpc>
                <a:spcPts val="4758"/>
              </a:lnSpc>
              <a:buFont typeface="Arial"/>
              <a:buChar char="⚬"/>
            </a:pPr>
            <a:r>
              <a:rPr lang="en-US" b="true" sz="3399" spc="-268">
                <a:solidFill>
                  <a:srgbClr val="FFFFFF"/>
                </a:solidFill>
                <a:latin typeface="Garet Bold"/>
                <a:ea typeface="Garet Bold"/>
                <a:cs typeface="Garet Bold"/>
                <a:sym typeface="Garet Bold"/>
              </a:rPr>
              <a:t>Scalability of the project </a:t>
            </a:r>
          </a:p>
          <a:p>
            <a:pPr algn="l" marL="4403065" indent="-629009" lvl="6">
              <a:lnSpc>
                <a:spcPts val="4758"/>
              </a:lnSpc>
              <a:buFont typeface="Arial"/>
              <a:buChar char="￭"/>
            </a:pPr>
            <a:r>
              <a:rPr lang="en-US" b="true" sz="3399" spc="-268">
                <a:solidFill>
                  <a:srgbClr val="FFFFFF"/>
                </a:solidFill>
                <a:latin typeface="Garet Bold"/>
                <a:ea typeface="Garet Bold"/>
                <a:cs typeface="Garet Bold"/>
                <a:sym typeface="Garet Bold"/>
              </a:rPr>
              <a:t> </a:t>
            </a:r>
            <a:r>
              <a:rPr lang="en-US" sz="3399" spc="-268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Can be expanded for schools, colleges, and professional use</a:t>
            </a:r>
          </a:p>
          <a:p>
            <a:pPr algn="l" marL="4403065" indent="-629009" lvl="6">
              <a:lnSpc>
                <a:spcPts val="4759"/>
              </a:lnSpc>
              <a:buFont typeface="Arial"/>
              <a:buChar char="￭"/>
            </a:pPr>
            <a:r>
              <a:rPr lang="en-US" sz="3399" spc="-271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Easily scalable with cloud integration and </a:t>
            </a:r>
            <a:r>
              <a:rPr lang="en-US" b="true" sz="3399" spc="-271">
                <a:solidFill>
                  <a:srgbClr val="FFFFFF"/>
                </a:solidFill>
                <a:latin typeface="Garet Bold"/>
                <a:ea typeface="Garet Bold"/>
                <a:cs typeface="Garet Bold"/>
                <a:sym typeface="Garet Bold"/>
              </a:rPr>
              <a:t>mobile </a:t>
            </a:r>
            <a:r>
              <a:rPr lang="en-US" sz="3399" spc="-271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deployment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01379" y="5164093"/>
            <a:ext cx="14383513" cy="23806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77011" indent="-259004" lvl="2">
              <a:lnSpc>
                <a:spcPts val="4758"/>
              </a:lnSpc>
              <a:buFont typeface="Arial"/>
              <a:buChar char="⚬"/>
            </a:pPr>
            <a:r>
              <a:rPr lang="en-US" b="true" sz="3399" spc="-268">
                <a:solidFill>
                  <a:srgbClr val="FFFFFF"/>
                </a:solidFill>
                <a:latin typeface="Garet Bold"/>
                <a:ea typeface="Garet Bold"/>
                <a:cs typeface="Garet Bold"/>
                <a:sym typeface="Garet Bold"/>
              </a:rPr>
              <a:t>Final summary  </a:t>
            </a:r>
          </a:p>
          <a:p>
            <a:pPr algn="l" marL="4403065" indent="-629009" lvl="6">
              <a:lnSpc>
                <a:spcPts val="4758"/>
              </a:lnSpc>
              <a:buFont typeface="Arial"/>
              <a:buChar char="￭"/>
            </a:pPr>
            <a:r>
              <a:rPr lang="en-US" sz="3399" spc="-268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Converts handwritten notes into structured digital text efficiently</a:t>
            </a:r>
          </a:p>
          <a:p>
            <a:pPr algn="l" marL="4403065" indent="-629009" lvl="6">
              <a:lnSpc>
                <a:spcPts val="4759"/>
              </a:lnSpc>
              <a:buFont typeface="Arial"/>
              <a:buChar char="￭"/>
            </a:pPr>
            <a:r>
              <a:rPr lang="en-US" sz="3399" spc="-271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Enhances learning, organization, and productivity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1136047" y="1271397"/>
            <a:ext cx="16230600" cy="302552"/>
          </a:xfrm>
          <a:custGeom>
            <a:avLst/>
            <a:gdLst/>
            <a:ahLst/>
            <a:cxnLst/>
            <a:rect r="r" b="b" t="t" l="l"/>
            <a:pathLst>
              <a:path h="302552" w="16230600">
                <a:moveTo>
                  <a:pt x="0" y="0"/>
                </a:moveTo>
                <a:lnTo>
                  <a:pt x="16230600" y="0"/>
                </a:lnTo>
                <a:lnTo>
                  <a:pt x="16230600" y="302552"/>
                </a:lnTo>
                <a:lnTo>
                  <a:pt x="0" y="30255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9" id="9"/>
          <p:cNvGrpSpPr/>
          <p:nvPr/>
        </p:nvGrpSpPr>
        <p:grpSpPr>
          <a:xfrm rot="0">
            <a:off x="633298" y="575310"/>
            <a:ext cx="2131571" cy="1004830"/>
            <a:chOff x="0" y="0"/>
            <a:chExt cx="2842095" cy="1339774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842133" cy="1339723"/>
            </a:xfrm>
            <a:custGeom>
              <a:avLst/>
              <a:gdLst/>
              <a:ahLst/>
              <a:cxnLst/>
              <a:rect r="r" b="b" t="t" l="l"/>
              <a:pathLst>
                <a:path h="1339723" w="2842133">
                  <a:moveTo>
                    <a:pt x="0" y="0"/>
                  </a:moveTo>
                  <a:lnTo>
                    <a:pt x="2842133" y="0"/>
                  </a:lnTo>
                  <a:lnTo>
                    <a:pt x="2842133" y="1339723"/>
                  </a:lnTo>
                  <a:lnTo>
                    <a:pt x="0" y="133972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86" t="0" r="-85" b="-3"/>
              </a:stretch>
            </a:blip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15978664" y="-269129"/>
            <a:ext cx="2475690" cy="2475690"/>
            <a:chOff x="0" y="0"/>
            <a:chExt cx="3300921" cy="3300921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3300984" cy="3300984"/>
            </a:xfrm>
            <a:custGeom>
              <a:avLst/>
              <a:gdLst/>
              <a:ahLst/>
              <a:cxnLst/>
              <a:rect r="r" b="b" t="t" l="l"/>
              <a:pathLst>
                <a:path h="3300984" w="3300984">
                  <a:moveTo>
                    <a:pt x="0" y="0"/>
                  </a:moveTo>
                  <a:lnTo>
                    <a:pt x="3300984" y="0"/>
                  </a:lnTo>
                  <a:lnTo>
                    <a:pt x="3300984" y="3300984"/>
                  </a:lnTo>
                  <a:lnTo>
                    <a:pt x="0" y="330098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1" b="1"/>
              </a:stretch>
            </a:blipFill>
          </p:spPr>
        </p:sp>
      </p:grp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9271" r="0" b="-9271"/>
              </a:stretch>
            </a:blip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1565415" y="1289285"/>
            <a:ext cx="16230600" cy="302552"/>
          </a:xfrm>
          <a:custGeom>
            <a:avLst/>
            <a:gdLst/>
            <a:ahLst/>
            <a:cxnLst/>
            <a:rect r="r" b="b" t="t" l="l"/>
            <a:pathLst>
              <a:path h="302552" w="16230600">
                <a:moveTo>
                  <a:pt x="0" y="0"/>
                </a:moveTo>
                <a:lnTo>
                  <a:pt x="16230600" y="0"/>
                </a:lnTo>
                <a:lnTo>
                  <a:pt x="16230600" y="302552"/>
                </a:lnTo>
                <a:lnTo>
                  <a:pt x="0" y="30255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633298" y="575310"/>
            <a:ext cx="2131571" cy="1004830"/>
            <a:chOff x="0" y="0"/>
            <a:chExt cx="2842095" cy="1339774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842133" cy="1339723"/>
            </a:xfrm>
            <a:custGeom>
              <a:avLst/>
              <a:gdLst/>
              <a:ahLst/>
              <a:cxnLst/>
              <a:rect r="r" b="b" t="t" l="l"/>
              <a:pathLst>
                <a:path h="1339723" w="2842133">
                  <a:moveTo>
                    <a:pt x="0" y="0"/>
                  </a:moveTo>
                  <a:lnTo>
                    <a:pt x="2842133" y="0"/>
                  </a:lnTo>
                  <a:lnTo>
                    <a:pt x="2842133" y="1339723"/>
                  </a:lnTo>
                  <a:lnTo>
                    <a:pt x="0" y="133972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86" t="0" r="-85" b="-3"/>
              </a:stretch>
            </a:blipFill>
          </p:spPr>
        </p:sp>
      </p:grpSp>
      <p:grpSp>
        <p:nvGrpSpPr>
          <p:cNvPr name="Group 7" id="7"/>
          <p:cNvGrpSpPr/>
          <p:nvPr/>
        </p:nvGrpSpPr>
        <p:grpSpPr>
          <a:xfrm rot="0">
            <a:off x="15978664" y="-269129"/>
            <a:ext cx="2475690" cy="2475690"/>
            <a:chOff x="0" y="0"/>
            <a:chExt cx="3300921" cy="3300921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3300984" cy="3300984"/>
            </a:xfrm>
            <a:custGeom>
              <a:avLst/>
              <a:gdLst/>
              <a:ahLst/>
              <a:cxnLst/>
              <a:rect r="r" b="b" t="t" l="l"/>
              <a:pathLst>
                <a:path h="3300984" w="3300984">
                  <a:moveTo>
                    <a:pt x="0" y="0"/>
                  </a:moveTo>
                  <a:lnTo>
                    <a:pt x="3300984" y="0"/>
                  </a:lnTo>
                  <a:lnTo>
                    <a:pt x="3300984" y="3300984"/>
                  </a:lnTo>
                  <a:lnTo>
                    <a:pt x="0" y="330098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1" b="1"/>
              </a:stretch>
            </a:blipFill>
          </p:spPr>
        </p:sp>
      </p:grpSp>
      <p:sp>
        <p:nvSpPr>
          <p:cNvPr name="TextBox 9" id="9"/>
          <p:cNvSpPr txBox="true"/>
          <p:nvPr/>
        </p:nvSpPr>
        <p:spPr>
          <a:xfrm rot="0">
            <a:off x="4633623" y="677675"/>
            <a:ext cx="8323385" cy="72981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288"/>
              </a:lnSpc>
            </a:pPr>
            <a:r>
              <a:rPr lang="en-US" sz="20920" spc="-1652">
                <a:solidFill>
                  <a:srgbClr val="FFFFFF"/>
                </a:solidFill>
                <a:latin typeface="Apricots"/>
                <a:ea typeface="Apricots"/>
                <a:cs typeface="Apricots"/>
                <a:sym typeface="Apricots"/>
              </a:rPr>
              <a:t>Thank</a:t>
            </a:r>
          </a:p>
          <a:p>
            <a:pPr algn="ctr">
              <a:lnSpc>
                <a:spcPts val="29288"/>
              </a:lnSpc>
              <a:spcBef>
                <a:spcPct val="0"/>
              </a:spcBef>
            </a:pPr>
            <a:r>
              <a:rPr lang="en-US" sz="20920" spc="-1652">
                <a:solidFill>
                  <a:srgbClr val="FFFFFF"/>
                </a:solidFill>
                <a:latin typeface="Apricots"/>
                <a:ea typeface="Apricots"/>
                <a:cs typeface="Apricots"/>
                <a:sym typeface="Apricots"/>
              </a:rPr>
              <a:t>you!!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DAHFtx0HVAo</dc:identifier>
  <dcterms:modified xsi:type="dcterms:W3CDTF">2011-08-01T06:04:30Z</dcterms:modified>
  <cp:revision>1</cp:revision>
  <dc:title>note-txt.pptx</dc:title>
</cp:coreProperties>
</file>